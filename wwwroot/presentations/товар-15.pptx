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1"/>
  </p:notesMasterIdLst>
  <p:sldIdLst>
    <p:sldId id="256" r:id="rId2"/>
    <p:sldId id="343" r:id="rId3"/>
    <p:sldId id="357" r:id="rId4"/>
    <p:sldId id="358" r:id="rId5"/>
    <p:sldId id="360" r:id="rId6"/>
    <p:sldId id="351" r:id="rId7"/>
    <p:sldId id="361" r:id="rId8"/>
    <p:sldId id="362" r:id="rId9"/>
    <p:sldId id="363" r:id="rId10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Игорь Леонидович Корнеев" initials="ИЛК" lastIdx="0" clrIdx="0"/>
  <p:cmAuthor id="1" name="Home Admin" initials="H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2D72"/>
    <a:srgbClr val="E9EDF4"/>
    <a:srgbClr val="D0D8E8"/>
    <a:srgbClr val="EDF4FF"/>
    <a:srgbClr val="DAE9FF"/>
    <a:srgbClr val="E4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Темный стиль 1 -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55" autoAdjust="0"/>
    <p:restoredTop sz="95268" autoAdjust="0"/>
  </p:normalViewPr>
  <p:slideViewPr>
    <p:cSldViewPr snapToGrid="0" snapToObjects="1">
      <p:cViewPr varScale="1">
        <p:scale>
          <a:sx n="82" d="100"/>
          <a:sy n="82" d="100"/>
        </p:scale>
        <p:origin x="85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6383D-D99F-2048-997B-308408BE5E36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2E20E-1C9D-C54A-9C52-DA204C181CD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66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52E20E-1C9D-C54A-9C52-DA204C181CD9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652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E6128-DFC7-4EFE-8213-2F33D2153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89ABF7-8166-443D-B389-6E72C7026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BCBFEA-4026-4C8D-B2F1-5379068E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7D2120-1269-4B29-81B5-140AED75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722F8-422F-402C-9DF4-998BAAD4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83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3FC7D-8253-4E2D-A3D9-6A1D9063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3F88D0-4DD8-437F-8AF2-DB5EA66BF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E1CE3F-5592-4EEA-A894-62BC72A8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E9548B-7A96-4965-A900-100CBF07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79996D-FC9F-4706-BA8A-51674989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24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35E5C-854D-48AF-981E-24D307D3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228627-9E89-41BB-B950-FB61D4FF2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49BEBA-6D96-43B9-AD3F-B19953BD2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392565-409D-4DAC-890C-32FB06D2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2CAA2-9B9D-49B4-9991-0982F804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C6BEF-7370-4E27-A689-21051F61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0C56FD-122D-4B56-A41B-2309F202F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14A9CA-AF36-4557-B3F9-A375143B2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44B931-9463-43F9-8EC6-3B10D13A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257DB6-B6DC-4CA2-9038-1E6FA978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BB6E6-E38C-4CD4-AD6B-30C9A57E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85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145AB-D094-4A3D-9A42-B1138D533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DB521F-A3D2-4D5F-9494-019027E9C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55894B-5686-4276-93AD-F2EE4E882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1D6548-328B-420E-919F-813F6E4D4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4736DA-EE65-4E54-BE9D-347A8C6F3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36E57F-CD2B-461D-9081-43D307E7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497B86-C0A0-4FF0-909B-14F7A045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D7CFE86-D62C-4891-A0F0-85023480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55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0F3A2-D4D5-4E0E-9A89-BC1EB7FF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EE170D-63D3-4105-A7A2-780B2214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786092-A7F1-4429-92EC-FD95BE4A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02305C-23D4-4B41-9D84-1D159BE6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40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AFC61F-CC3D-4440-8710-D087BDD4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93F6F5-970B-44E3-B8F4-8E526FA9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CC9DC4-6C27-4CF5-8973-056FA9F3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61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1E069-9BBF-45D1-834B-B47F630A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3EA5CA-8E99-47EB-91E4-9A806F266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2DCC5E-9E24-4332-9FCD-48388273E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7F6EC4-FE75-4013-B5FD-8EBCE71F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204082-FF88-4748-81AA-B9558CC2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1691C8-7687-4241-95A8-F1C569E7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57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C646C-B166-44DD-B1CE-65347B2B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8ACEEA-7616-468D-8E01-C4F6678E0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99EA21-E1E4-481A-9E87-3D0E3410A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DAF59D-E667-4CDE-B2E9-898E9D38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954F32-7090-4035-A1B2-CA17BEE5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0B7B90-9629-4FF7-B628-D4AFBDF4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12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4FAC8-595C-4CB8-85CD-2E93D92C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BD19F3-25BE-456D-A0B1-FE09B83B8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330A32-83F8-4BCE-BE64-A19E282D6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E2E00F-67BE-404A-8B52-2070AB6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37E649-C9E7-4FD4-8E49-3012898E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28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CC8B80A-DE0B-4D90-8212-5A12E7A98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D384DF-627F-444F-9904-16B307C23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581F24-369E-4A46-B6BB-8AB74C7A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0BA5EB-251C-4D5C-BA23-8046A511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511BDE-5FC3-422D-B5B7-DBBE5A49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64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36139-D6C9-4B91-879C-026EB0A1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6C0A3-F09D-46FB-970B-324DC4A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417E16-C710-412B-A0FC-1A50EE95A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151F-D688-6141-A0B2-66F0774B3D4E}" type="datetimeFigureOut">
              <a:rPr lang="ru-RU" smtClean="0"/>
              <a:pPr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3A9B55-A2A7-4DEB-A2D5-7FE26F2F1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F33419-2D5A-42DD-9AC5-9FFBAE1E9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7AB09-B287-BF44-B086-718238F9A4D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98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18124" y="2259449"/>
            <a:ext cx="8873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i="1" dirty="0">
                <a:solidFill>
                  <a:schemeClr val="bg1"/>
                </a:solidFill>
              </a:rPr>
              <a:t>Аппаратный модуль</a:t>
            </a:r>
          </a:p>
          <a:p>
            <a:pPr algn="ctr"/>
            <a:r>
              <a:rPr lang="ru-RU" sz="2800" b="1" i="1" dirty="0">
                <a:solidFill>
                  <a:schemeClr val="bg1"/>
                </a:solidFill>
              </a:rPr>
              <a:t>АМ </a:t>
            </a:r>
            <a:r>
              <a:rPr lang="en-US" sz="2800" b="1" i="1" dirty="0" err="1">
                <a:solidFill>
                  <a:schemeClr val="bg1"/>
                </a:solidFill>
              </a:rPr>
              <a:t>VVizor</a:t>
            </a:r>
            <a:endParaRPr lang="ru-RU" sz="2800" b="1" i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88625" y="6251171"/>
            <a:ext cx="2261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МОСКВА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1526" y="6251171"/>
            <a:ext cx="186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26.11.2025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F4661-521D-4D8A-BF2F-E979DFF5F59B}"/>
              </a:ext>
            </a:extLst>
          </p:cNvPr>
          <p:cNvSpPr txBox="1"/>
          <p:nvPr/>
        </p:nvSpPr>
        <p:spPr>
          <a:xfrm>
            <a:off x="3318124" y="3989401"/>
            <a:ext cx="8873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i="1" dirty="0">
                <a:solidFill>
                  <a:schemeClr val="bg1"/>
                </a:solidFill>
              </a:rPr>
              <a:t>Докладчик:</a:t>
            </a:r>
          </a:p>
          <a:p>
            <a:pPr algn="r"/>
            <a:r>
              <a:rPr lang="ru-RU" sz="2000" b="1" i="1" dirty="0">
                <a:solidFill>
                  <a:schemeClr val="bg1"/>
                </a:solidFill>
              </a:rPr>
              <a:t>Тарасов И.А. – Начальник отдела Беспроводной связи.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A3C80C-8989-4950-A574-2E862BA10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148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9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BE73E6E1-EFA5-4B21-8990-362EEE536C5E}"/>
              </a:ext>
            </a:extLst>
          </p:cNvPr>
          <p:cNvSpPr txBox="1"/>
          <p:nvPr/>
        </p:nvSpPr>
        <p:spPr>
          <a:xfrm>
            <a:off x="554182" y="1059205"/>
            <a:ext cx="11245069" cy="3895350"/>
          </a:xfrm>
          <a:prstGeom prst="rect">
            <a:avLst/>
          </a:prstGeom>
          <a:solidFill>
            <a:srgbClr val="EDF4FF">
              <a:alpha val="60000"/>
            </a:srgbClr>
          </a:solidFill>
        </p:spPr>
        <p:txBody>
          <a:bodyPr wrap="square" lIns="180000" tIns="180000" rIns="180000" bIns="180000" rtlCol="0">
            <a:no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Общие цели комплексного проекта: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Vvizor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— 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компактное и удобное в использовании устройство для приёма аналогового видеосигнала с дронов, работающее в диапазоне 5.8 ГГц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3.3 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ГГц,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ГГц имеющий режим автоматического поиска (</a:t>
            </a:r>
            <a:r>
              <a:rPr lang="ru-RU"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Auto-Search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видео передатчика. </a:t>
            </a:r>
            <a:r>
              <a:rPr lang="ru-RU"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Auto-Search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мгновенно находит и подключается к активному видеопотоку без необходимости ручной настройки. Звуковое оповещение об имеющихся передатчиков и запись видеопотока на внешний носитель хранения данных.</a:t>
            </a: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2000" b="1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Цели модуля</a:t>
            </a: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</a:t>
            </a: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2000" spc="-1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Создание аппаратного комплекса для обнаружения, фиксирования и записи видео перехваченного видео потока. Защита от угроз дронов.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2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2826C7A-E1E6-4E2C-B3AC-ED433DE83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8925" y="6953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bject 10"/>
          <p:cNvSpPr txBox="1"/>
          <p:nvPr/>
        </p:nvSpPr>
        <p:spPr>
          <a:xfrm>
            <a:off x="772234" y="1354718"/>
            <a:ext cx="10673863" cy="406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endParaRPr lang="ru-RU" sz="2000" spc="-1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8A13CDD-F302-4408-B406-A2211A343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1" y="-17344"/>
            <a:ext cx="12191988" cy="6727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4105" y="102584"/>
            <a:ext cx="908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Цель и результаты выполнения  </a:t>
            </a:r>
            <a:r>
              <a:rPr lang="ru-RU" b="1" i="1" dirty="0">
                <a:solidFill>
                  <a:schemeClr val="bg1"/>
                </a:solidFill>
              </a:rPr>
              <a:t>АМ «</a:t>
            </a:r>
            <a:r>
              <a:rPr lang="en-US" b="1" i="1" dirty="0">
                <a:solidFill>
                  <a:schemeClr val="bg1"/>
                </a:solidFill>
              </a:rPr>
              <a:t>Vvizor</a:t>
            </a:r>
            <a:r>
              <a:rPr lang="ru-RU" b="1" i="1" dirty="0">
                <a:solidFill>
                  <a:schemeClr val="bg1"/>
                </a:solidFill>
              </a:rPr>
              <a:t>»</a:t>
            </a:r>
          </a:p>
          <a:p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171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BE73E6E1-EFA5-4B21-8990-362EEE536C5E}"/>
              </a:ext>
            </a:extLst>
          </p:cNvPr>
          <p:cNvSpPr txBox="1"/>
          <p:nvPr/>
        </p:nvSpPr>
        <p:spPr>
          <a:xfrm>
            <a:off x="473459" y="669871"/>
            <a:ext cx="11546907" cy="5332228"/>
          </a:xfrm>
          <a:prstGeom prst="rect">
            <a:avLst/>
          </a:prstGeom>
          <a:solidFill>
            <a:srgbClr val="EDF4FF">
              <a:alpha val="60000"/>
            </a:srgbClr>
          </a:solidFill>
        </p:spPr>
        <p:txBody>
          <a:bodyPr wrap="square" lIns="180000" tIns="180000" rIns="180000" bIns="180000" rtlCol="0">
            <a:noAutofit/>
          </a:bodyPr>
          <a:lstStyle/>
          <a:p>
            <a:pPr algn="just"/>
            <a:endParaRPr lang="ru-RU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3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2826C7A-E1E6-4E2C-B3AC-ED433DE83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8925" y="6953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bject 10"/>
          <p:cNvSpPr txBox="1"/>
          <p:nvPr/>
        </p:nvSpPr>
        <p:spPr>
          <a:xfrm>
            <a:off x="769970" y="707583"/>
            <a:ext cx="11154552" cy="3947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Описание: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ru-RU" dirty="0"/>
              <a:t>АМ «</a:t>
            </a:r>
            <a:r>
              <a:rPr lang="en-US" dirty="0"/>
              <a:t>Vvizor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позволяет: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Сканировать частотный спектр в диапазоне частот от.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ГГц до 2.2 ГГц, 3.1 ГГц до 3.7 ГГц, 4.8 ГГц – 6.0 ГГц, </a:t>
            </a:r>
            <a:r>
              <a:rPr lang="ru-RU" dirty="0"/>
              <a:t>в месте размещения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ru-RU" dirty="0"/>
              <a:t>Вывод перехваченного изображения на дисплей с разрешением 800</a:t>
            </a:r>
            <a:r>
              <a:rPr lang="en-US" dirty="0"/>
              <a:t>x</a:t>
            </a:r>
            <a:r>
              <a:rPr lang="ru-RU"/>
              <a:t>480.</a:t>
            </a:r>
            <a:endParaRPr lang="ru-RU" dirty="0"/>
          </a:p>
          <a:p>
            <a:pPr marL="342900" indent="-342900">
              <a:buFont typeface="+mj-lt"/>
              <a:buAutoNum type="arabicPeriod" startAt="2"/>
            </a:pPr>
            <a:r>
              <a:rPr lang="ru-RU" dirty="0"/>
              <a:t>Возможность вывода изображения по </a:t>
            </a:r>
            <a:r>
              <a:rPr lang="en-US" dirty="0"/>
              <a:t>HDMI HIGH SPEED v1.4.</a:t>
            </a:r>
            <a:endParaRPr lang="ru-RU" dirty="0"/>
          </a:p>
          <a:p>
            <a:pPr marL="342900" indent="-342900">
              <a:buFont typeface="+mj-lt"/>
              <a:buAutoNum type="arabicPeriod" startAt="2"/>
            </a:pPr>
            <a:r>
              <a:rPr lang="ru-RU" dirty="0"/>
              <a:t>Время обнаружения 30 с.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ru-RU" dirty="0"/>
              <a:t>Дальность обнаружения от 5 км.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endParaRPr lang="ru-RU" dirty="0"/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ru-RU" dirty="0"/>
          </a:p>
          <a:p>
            <a:pPr lvl="0"/>
            <a:endParaRPr lang="ru-RU" sz="1400" dirty="0">
              <a:sym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912D4D1-FC5A-4D77-B910-7201C9D81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78"/>
            <a:ext cx="12191988" cy="6727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" y="-16525"/>
            <a:ext cx="9085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АМ «</a:t>
            </a:r>
            <a:r>
              <a:rPr lang="en-US" b="1" i="1" dirty="0">
                <a:solidFill>
                  <a:schemeClr val="bg1"/>
                </a:solidFill>
              </a:rPr>
              <a:t>Vvizor</a:t>
            </a:r>
            <a:r>
              <a:rPr lang="ru-RU" b="1" i="1" dirty="0">
                <a:solidFill>
                  <a:schemeClr val="bg1"/>
                </a:solidFill>
              </a:rPr>
              <a:t>»</a:t>
            </a:r>
          </a:p>
          <a:p>
            <a:r>
              <a:rPr lang="ru-RU" b="1" dirty="0">
                <a:solidFill>
                  <a:schemeClr val="bg1"/>
                </a:solidFill>
                <a:sym typeface="Arial"/>
              </a:rPr>
              <a:t>Устройство фиксирования видео передатчиков.</a:t>
            </a:r>
          </a:p>
          <a:p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2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4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2826C7A-E1E6-4E2C-B3AC-ED433DE83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8925" y="6953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bject 10"/>
          <p:cNvSpPr txBox="1"/>
          <p:nvPr/>
        </p:nvSpPr>
        <p:spPr>
          <a:xfrm>
            <a:off x="839784" y="1165124"/>
            <a:ext cx="10673863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/>
            <a:endParaRPr lang="ru-RU" sz="1400" dirty="0">
              <a:sym typeface="Arial"/>
            </a:endParaRPr>
          </a:p>
        </p:txBody>
      </p:sp>
      <p:sp>
        <p:nvSpPr>
          <p:cNvPr id="16" name="object 10"/>
          <p:cNvSpPr txBox="1"/>
          <p:nvPr/>
        </p:nvSpPr>
        <p:spPr>
          <a:xfrm>
            <a:off x="678353" y="1033458"/>
            <a:ext cx="10673863" cy="2751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Особые решения: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хранение всех ранее зафиксированных видео передач и запись на внешний носитель данных.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Звуковой сигнал для оповещения приближающегося дрона.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Функционирование в автономном режиме.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реализации построения до 10 устройств в единую сеть для увеличения зоны покрытия по интерфейсу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удалением 15 км друг от друга с центральным постом анализа полученных данных</a:t>
            </a:r>
            <a:r>
              <a:rPr lang="ru-RU" sz="1500" dirty="0">
                <a:sym typeface="Arial"/>
              </a:rPr>
              <a:t>.</a:t>
            </a:r>
            <a:br>
              <a:rPr lang="ru-RU" sz="1500" dirty="0">
                <a:sym typeface="Arial"/>
              </a:rPr>
            </a:br>
            <a:endParaRPr lang="ru-RU" sz="1400" dirty="0">
              <a:sym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A6E41A8-6FF3-4D85-BC39-11A2D6F63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2056"/>
            <a:ext cx="12191988" cy="6727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3753" y="118307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АМ «</a:t>
            </a:r>
            <a:r>
              <a:rPr lang="en-US" b="1" i="1" dirty="0" err="1">
                <a:solidFill>
                  <a:schemeClr val="bg1"/>
                </a:solidFill>
              </a:rPr>
              <a:t>Vvizor</a:t>
            </a:r>
            <a:r>
              <a:rPr lang="ru-RU" b="1" i="1" dirty="0">
                <a:solidFill>
                  <a:schemeClr val="bg1"/>
                </a:solidFill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93653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5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42826C7A-E1E6-4E2C-B3AC-ED433DE83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8925" y="6953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bject 10"/>
          <p:cNvSpPr txBox="1"/>
          <p:nvPr/>
        </p:nvSpPr>
        <p:spPr>
          <a:xfrm>
            <a:off x="839784" y="1165124"/>
            <a:ext cx="10673863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/>
            <a:endParaRPr lang="ru-RU" sz="1400" dirty="0">
              <a:sym typeface="Arial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8D54C607-AC06-430E-84BE-23269FD9FBAC}"/>
              </a:ext>
            </a:extLst>
          </p:cNvPr>
          <p:cNvSpPr txBox="1"/>
          <p:nvPr/>
        </p:nvSpPr>
        <p:spPr>
          <a:xfrm>
            <a:off x="759066" y="4400884"/>
            <a:ext cx="10673863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/>
            <a:endParaRPr lang="ru-RU" sz="1400" dirty="0">
              <a:sym typeface="Arial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BE05C9F-118E-4231-870E-9EDF3728F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795215"/>
              </p:ext>
            </p:extLst>
          </p:nvPr>
        </p:nvGraphicFramePr>
        <p:xfrm>
          <a:off x="696468" y="1351869"/>
          <a:ext cx="10960494" cy="21095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2399">
                  <a:extLst>
                    <a:ext uri="{9D8B030D-6E8A-4147-A177-3AD203B41FA5}">
                      <a16:colId xmlns:a16="http://schemas.microsoft.com/office/drawing/2014/main" val="4256125959"/>
                    </a:ext>
                  </a:extLst>
                </a:gridCol>
                <a:gridCol w="6291335">
                  <a:extLst>
                    <a:ext uri="{9D8B030D-6E8A-4147-A177-3AD203B41FA5}">
                      <a16:colId xmlns:a16="http://schemas.microsoft.com/office/drawing/2014/main" val="3896660791"/>
                    </a:ext>
                  </a:extLst>
                </a:gridCol>
                <a:gridCol w="3476760">
                  <a:extLst>
                    <a:ext uri="{9D8B030D-6E8A-4147-A177-3AD203B41FA5}">
                      <a16:colId xmlns:a16="http://schemas.microsoft.com/office/drawing/2014/main" val="2386202098"/>
                    </a:ext>
                  </a:extLst>
                </a:gridCol>
              </a:tblGrid>
              <a:tr h="292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Пп. №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Наименование параметра, ед. изм.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Значение параметра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5843757"/>
                  </a:ext>
                </a:extLst>
              </a:tr>
              <a:tr h="292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Частотный диапазон, ГГц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u-RU"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-2.2 , 3.1 -3.7, 4.8 – 6.0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7863218"/>
                  </a:ext>
                </a:extLst>
              </a:tr>
              <a:tr h="292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Количество каналов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37061806"/>
                  </a:ext>
                </a:extLst>
              </a:tr>
              <a:tr h="3553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Время прохождения всего диапазона, с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30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3856992"/>
                  </a:ext>
                </a:extLst>
              </a:tr>
              <a:tr h="292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Дальность обнаружения, км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0010740"/>
                  </a:ext>
                </a:extLst>
              </a:tr>
              <a:tr h="292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Чувствительность приёмника, </a:t>
                      </a:r>
                      <a:r>
                        <a:rPr lang="ru-RU" sz="1200" dirty="0" err="1">
                          <a:effectLst/>
                        </a:rPr>
                        <a:t>дБм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-90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4770918"/>
                  </a:ext>
                </a:extLst>
              </a:tr>
              <a:tr h="292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Количество усилителей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9310270"/>
                  </a:ext>
                </a:extLst>
              </a:tr>
            </a:tbl>
          </a:graphicData>
        </a:graphic>
      </p:graphicFrame>
      <p:sp>
        <p:nvSpPr>
          <p:cNvPr id="15" name="object 10">
            <a:extLst>
              <a:ext uri="{FF2B5EF4-FFF2-40B4-BE49-F238E27FC236}">
                <a16:creationId xmlns:a16="http://schemas.microsoft.com/office/drawing/2014/main" id="{4B08CE35-182C-4AFC-9979-CC48B9D9F669}"/>
              </a:ext>
            </a:extLst>
          </p:cNvPr>
          <p:cNvSpPr txBox="1"/>
          <p:nvPr/>
        </p:nvSpPr>
        <p:spPr>
          <a:xfrm>
            <a:off x="678353" y="883488"/>
            <a:ext cx="10673863" cy="1129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ru-RU" b="1" dirty="0">
                <a:sym typeface="Arial"/>
              </a:rPr>
              <a:t>Параметры </a:t>
            </a:r>
            <a:r>
              <a:rPr lang="ru-RU" b="1" i="1" dirty="0"/>
              <a:t>АМ «</a:t>
            </a:r>
            <a:r>
              <a:rPr lang="en-US" b="1" i="1" dirty="0" err="1"/>
              <a:t>Vvizor</a:t>
            </a:r>
            <a:r>
              <a:rPr lang="ru-RU" b="1" i="1" dirty="0"/>
              <a:t>»</a:t>
            </a:r>
            <a:br>
              <a:rPr lang="ru-RU" sz="1400" dirty="0">
                <a:sym typeface="Arial"/>
              </a:rPr>
            </a:br>
            <a:endParaRPr lang="ru-RU" sz="1200" dirty="0">
              <a:sym typeface="Arial"/>
            </a:endParaRP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1500" dirty="0">
                <a:sym typeface="Arial"/>
              </a:rPr>
              <a:t>.</a:t>
            </a:r>
            <a:br>
              <a:rPr lang="ru-RU" sz="1500" dirty="0">
                <a:sym typeface="Arial"/>
              </a:rPr>
            </a:br>
            <a:endParaRPr lang="ru-RU" sz="1400" dirty="0">
              <a:sym typeface="Arial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626F32C1-A229-4351-86FD-F09820447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-9936"/>
            <a:ext cx="12191988" cy="6727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6697" y="74838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АМ «</a:t>
            </a:r>
            <a:r>
              <a:rPr lang="en-US" b="1" i="1" dirty="0" err="1">
                <a:solidFill>
                  <a:schemeClr val="bg1"/>
                </a:solidFill>
              </a:rPr>
              <a:t>Vvizor</a:t>
            </a:r>
            <a:r>
              <a:rPr lang="ru-RU" b="1" i="1" dirty="0">
                <a:solidFill>
                  <a:schemeClr val="bg1"/>
                </a:solidFill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4070310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6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5687005-5282-44B9-8222-EC64F1BE2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-31575"/>
            <a:ext cx="12191988" cy="6727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6" y="86142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АМ «</a:t>
            </a:r>
            <a:r>
              <a:rPr lang="en-US" b="1" i="1" dirty="0" err="1">
                <a:solidFill>
                  <a:schemeClr val="bg1"/>
                </a:solidFill>
              </a:rPr>
              <a:t>Vvizor</a:t>
            </a:r>
            <a:r>
              <a:rPr lang="ru-RU" b="1" i="1" dirty="0">
                <a:solidFill>
                  <a:schemeClr val="bg1"/>
                </a:solidFill>
              </a:rPr>
              <a:t>» </a:t>
            </a:r>
            <a:r>
              <a:rPr lang="ru-RU" b="1" dirty="0">
                <a:solidFill>
                  <a:schemeClr val="bg1"/>
                </a:solidFill>
              </a:rPr>
              <a:t>Ценовой расчет опытного образца с тремя приемниками.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49324BF-3ED2-48CC-9C49-C1E6BCBBD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278887"/>
              </p:ext>
            </p:extLst>
          </p:nvPr>
        </p:nvGraphicFramePr>
        <p:xfrm>
          <a:off x="895883" y="1029974"/>
          <a:ext cx="5200117" cy="4428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1668">
                  <a:extLst>
                    <a:ext uri="{9D8B030D-6E8A-4147-A177-3AD203B41FA5}">
                      <a16:colId xmlns:a16="http://schemas.microsoft.com/office/drawing/2014/main" val="3915746792"/>
                    </a:ext>
                  </a:extLst>
                </a:gridCol>
                <a:gridCol w="2858449">
                  <a:extLst>
                    <a:ext uri="{9D8B030D-6E8A-4147-A177-3AD203B41FA5}">
                      <a16:colId xmlns:a16="http://schemas.microsoft.com/office/drawing/2014/main" val="1677811562"/>
                    </a:ext>
                  </a:extLst>
                </a:gridCol>
              </a:tblGrid>
              <a:tr h="21756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Вариант 1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4283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Цена, руб.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141658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Антенны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09156256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Разъемы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85404596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Обвязка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87990475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Усилитель мощности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66710162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Приемник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97674784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Switch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93414845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Видео-декодер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extLst>
                  <a:ext uri="{0D108BD9-81ED-4DB2-BD59-A6C34878D82A}">
                    <a16:rowId xmlns:a16="http://schemas.microsoft.com/office/drawing/2014/main" val="51326593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Видео-обработчик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1820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LCD 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монитор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extLst>
                  <a:ext uri="{0D108BD9-81ED-4DB2-BD59-A6C34878D82A}">
                    <a16:rowId xmlns:a16="http://schemas.microsoft.com/office/drawing/2014/main" val="396142987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HDMI-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передатчик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6375994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Контроллер управления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91525335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Контроллер питания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73715163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Батарея аккумуляторная, 4 шт.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82066931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29972023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Корпус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90052611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20560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42622329"/>
                  </a:ext>
                </a:extLst>
              </a:tr>
              <a:tr h="21756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Трудоемкость, (чел. ч)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842512"/>
                  </a:ext>
                </a:extLst>
              </a:tr>
              <a:tr h="21756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26807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0637D46-383D-44E3-B5C1-570022323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524663"/>
              </p:ext>
            </p:extLst>
          </p:nvPr>
        </p:nvGraphicFramePr>
        <p:xfrm>
          <a:off x="6286012" y="1024460"/>
          <a:ext cx="5651367" cy="4428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7776">
                  <a:extLst>
                    <a:ext uri="{9D8B030D-6E8A-4147-A177-3AD203B41FA5}">
                      <a16:colId xmlns:a16="http://schemas.microsoft.com/office/drawing/2014/main" val="4119117948"/>
                    </a:ext>
                  </a:extLst>
                </a:gridCol>
                <a:gridCol w="2813591">
                  <a:extLst>
                    <a:ext uri="{9D8B030D-6E8A-4147-A177-3AD203B41FA5}">
                      <a16:colId xmlns:a16="http://schemas.microsoft.com/office/drawing/2014/main" val="3226385632"/>
                    </a:ext>
                  </a:extLst>
                </a:gridCol>
              </a:tblGrid>
              <a:tr h="21756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Вариант 2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49012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Цена, руб.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89321258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Антенны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42959765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Разъемы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06485174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Обвязка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89184494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Усилитель мощности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41921702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Приемник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96210769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Switch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42237185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Видео-декодер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264082912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Видео-обработчик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extLst>
                  <a:ext uri="{0D108BD9-81ED-4DB2-BD59-A6C34878D82A}">
                    <a16:rowId xmlns:a16="http://schemas.microsoft.com/office/drawing/2014/main" val="327115938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Контроллер управления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ctr"/>
                </a:tc>
                <a:extLst>
                  <a:ext uri="{0D108BD9-81ED-4DB2-BD59-A6C34878D82A}">
                    <a16:rowId xmlns:a16="http://schemas.microsoft.com/office/drawing/2014/main" val="206609085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HDMI-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передатчик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78167986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LCD 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монитор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48834449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Контроллер питания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95288675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Батарея аккумуляторная, 4 шт.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70387883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88949997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Корпус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166074289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21960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extLst>
                  <a:ext uri="{0D108BD9-81ED-4DB2-BD59-A6C34878D82A}">
                    <a16:rowId xmlns:a16="http://schemas.microsoft.com/office/drawing/2014/main" val="3512384273"/>
                  </a:ext>
                </a:extLst>
              </a:tr>
              <a:tr h="21756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Трудоемкость, (чел. ч)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589699"/>
                  </a:ext>
                </a:extLst>
              </a:tr>
              <a:tr h="21756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" marR="8058" marT="8058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223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79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7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548" y="1119673"/>
            <a:ext cx="9918440" cy="519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5687005-5282-44B9-8222-EC64F1BE2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-31575"/>
            <a:ext cx="12191988" cy="6727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6" y="86142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АМ «</a:t>
            </a:r>
            <a:r>
              <a:rPr lang="en-US" b="1" i="1" dirty="0" err="1">
                <a:solidFill>
                  <a:schemeClr val="bg1"/>
                </a:solidFill>
              </a:rPr>
              <a:t>Vvizor</a:t>
            </a:r>
            <a:r>
              <a:rPr lang="ru-RU" b="1" i="1" dirty="0">
                <a:solidFill>
                  <a:schemeClr val="bg1"/>
                </a:solidFill>
              </a:rPr>
              <a:t>» + </a:t>
            </a:r>
            <a:r>
              <a:rPr lang="ru-RU" b="1" dirty="0">
                <a:solidFill>
                  <a:schemeClr val="bg1"/>
                </a:solidFill>
              </a:rPr>
              <a:t>Перспективы.</a:t>
            </a: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98CD3F70-DC05-4B92-8A2A-887426B3E3E9}"/>
              </a:ext>
            </a:extLst>
          </p:cNvPr>
          <p:cNvSpPr txBox="1"/>
          <p:nvPr/>
        </p:nvSpPr>
        <p:spPr>
          <a:xfrm>
            <a:off x="769970" y="707583"/>
            <a:ext cx="11154552" cy="3670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Описание: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ru-RU" dirty="0"/>
              <a:t>АМ «</a:t>
            </a:r>
            <a:r>
              <a:rPr lang="en-US" dirty="0" err="1"/>
              <a:t>Vvizor</a:t>
            </a:r>
            <a:r>
              <a:rPr lang="ru-RU" dirty="0"/>
              <a:t>» +</a:t>
            </a:r>
            <a:r>
              <a:rPr lang="en-US" dirty="0"/>
              <a:t> </a:t>
            </a:r>
            <a:r>
              <a:rPr lang="ru-RU" dirty="0"/>
              <a:t>позволяет: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Сканировать частотный спектр в диапазоне частот от </a:t>
            </a:r>
            <a:r>
              <a:rPr lang="ru-RU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МГц до 6 ГГц</a:t>
            </a:r>
            <a:r>
              <a:rPr lang="ru-RU" dirty="0"/>
              <a:t>.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ru-RU" dirty="0"/>
              <a:t>Вывод перехваченного изображения на дисплей с разрешением </a:t>
            </a:r>
            <a:r>
              <a:rPr lang="en-US" dirty="0"/>
              <a:t>480x272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ru-RU" dirty="0"/>
              <a:t>Возможность вывода изображения по </a:t>
            </a:r>
            <a:r>
              <a:rPr lang="en-US" dirty="0"/>
              <a:t>HDMI HIGH SPEED v1.4.</a:t>
            </a:r>
            <a:endParaRPr lang="ru-RU" dirty="0"/>
          </a:p>
          <a:p>
            <a:pPr marL="342900" indent="-342900">
              <a:buFont typeface="+mj-lt"/>
              <a:buAutoNum type="arabicPeriod" startAt="2"/>
            </a:pPr>
            <a:r>
              <a:rPr lang="ru-RU" dirty="0"/>
              <a:t>Время обнаружения 30 с.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ru-RU" dirty="0"/>
              <a:t>Дальность обнаружения от 5 км.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endParaRPr lang="ru-RU" dirty="0"/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ru-RU" dirty="0"/>
          </a:p>
          <a:p>
            <a:pPr lvl="0"/>
            <a:endParaRPr lang="ru-RU" sz="1400" dirty="0"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6786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8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5687005-5282-44B9-8222-EC64F1BE2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-31575"/>
            <a:ext cx="12191988" cy="6727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6" y="86142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АМ «</a:t>
            </a:r>
            <a:r>
              <a:rPr lang="en-US" b="1" i="1" dirty="0" err="1">
                <a:solidFill>
                  <a:schemeClr val="bg1"/>
                </a:solidFill>
              </a:rPr>
              <a:t>Vvizor</a:t>
            </a:r>
            <a:r>
              <a:rPr lang="ru-RU" b="1" i="1" dirty="0">
                <a:solidFill>
                  <a:schemeClr val="bg1"/>
                </a:solidFill>
              </a:rPr>
              <a:t>» + </a:t>
            </a:r>
            <a:r>
              <a:rPr lang="ru-RU" b="1" dirty="0">
                <a:solidFill>
                  <a:schemeClr val="bg1"/>
                </a:solidFill>
              </a:rPr>
              <a:t>Ценовой расчет опытного образца с тремя приемниками.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DF75261-6122-405C-B1E2-7A871975E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854602"/>
              </p:ext>
            </p:extLst>
          </p:nvPr>
        </p:nvGraphicFramePr>
        <p:xfrm>
          <a:off x="2676525" y="902522"/>
          <a:ext cx="7191619" cy="47454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8462">
                  <a:extLst>
                    <a:ext uri="{9D8B030D-6E8A-4147-A177-3AD203B41FA5}">
                      <a16:colId xmlns:a16="http://schemas.microsoft.com/office/drawing/2014/main" val="4126436753"/>
                    </a:ext>
                  </a:extLst>
                </a:gridCol>
                <a:gridCol w="3953157">
                  <a:extLst>
                    <a:ext uri="{9D8B030D-6E8A-4147-A177-3AD203B41FA5}">
                      <a16:colId xmlns:a16="http://schemas.microsoft.com/office/drawing/2014/main" val="1550761080"/>
                    </a:ext>
                  </a:extLst>
                </a:gridCol>
              </a:tblGrid>
              <a:tr h="2497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Вариант 3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172287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Цена, руб.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2245493074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Антенны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3102546410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Разъемы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469600393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Обвязка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2252983361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Усилитель мощности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2922509444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Приемник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2398128194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Видео-декодер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139689787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Видео-обработчик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ctr"/>
                </a:tc>
                <a:extLst>
                  <a:ext uri="{0D108BD9-81ED-4DB2-BD59-A6C34878D82A}">
                    <a16:rowId xmlns:a16="http://schemas.microsoft.com/office/drawing/2014/main" val="802881933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Контроллер управления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874027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HDMI-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передатчик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3506872754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LCD </a:t>
                      </a:r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монитор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3834961284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Контроллер питания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2954520179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Батарея аккумуляторная, 4 шт.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1460578652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3955425179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Корпус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493128876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24560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extLst>
                  <a:ext uri="{0D108BD9-81ED-4DB2-BD59-A6C34878D82A}">
                    <a16:rowId xmlns:a16="http://schemas.microsoft.com/office/drawing/2014/main" val="1193895964"/>
                  </a:ext>
                </a:extLst>
              </a:tr>
              <a:tr h="2497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Трудоемкость, (чел. ч)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047482"/>
                  </a:ext>
                </a:extLst>
              </a:tr>
              <a:tr h="2497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82" marR="8482" marT="8482" marB="0" anchor="b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549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5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" y="6185251"/>
            <a:ext cx="12191988" cy="672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9232" y="6336959"/>
            <a:ext cx="861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024D280-1C33-0740-AA14-557840F65B23}" type="slidenum">
              <a:rPr lang="ru-RU" sz="1600" b="1" smtClean="0">
                <a:solidFill>
                  <a:schemeClr val="bg1"/>
                </a:solidFill>
              </a:rPr>
              <a:t>9</a:t>
            </a:fld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8C1D00F-234E-4215-89C5-2A626C3DB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542925"/>
            <a:ext cx="683895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5687005-5282-44B9-8222-EC64F1BE2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-31575"/>
            <a:ext cx="12191988" cy="6727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6" y="86142"/>
            <a:ext cx="908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</a:rPr>
              <a:t>АМ «</a:t>
            </a:r>
            <a:r>
              <a:rPr lang="en-US" b="1" i="1" dirty="0" err="1">
                <a:solidFill>
                  <a:schemeClr val="bg1"/>
                </a:solidFill>
              </a:rPr>
              <a:t>Vvizor</a:t>
            </a:r>
            <a:r>
              <a:rPr lang="ru-RU" b="1" i="1" dirty="0">
                <a:solidFill>
                  <a:schemeClr val="bg1"/>
                </a:solidFill>
              </a:rPr>
              <a:t>»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ru-RU" b="1" i="1" dirty="0">
                <a:solidFill>
                  <a:schemeClr val="bg1"/>
                </a:solidFill>
              </a:rPr>
              <a:t>и конкуренты</a:t>
            </a:r>
            <a:r>
              <a:rPr lang="ru-R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CE92B54E-BBA2-4FBC-8CD4-398394EC841F}"/>
              </a:ext>
            </a:extLst>
          </p:cNvPr>
          <p:cNvSpPr txBox="1"/>
          <p:nvPr/>
        </p:nvSpPr>
        <p:spPr>
          <a:xfrm>
            <a:off x="304806" y="839755"/>
            <a:ext cx="3508311" cy="245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Информация о конкурентов:</a:t>
            </a:r>
          </a:p>
          <a:p>
            <a:pPr marL="127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tabLst>
                <a:tab pos="342900" algn="l"/>
                <a:tab pos="355600" algn="l"/>
              </a:tabLst>
              <a:defRPr sz="1500" spc="-10">
                <a:latin typeface="Arial"/>
                <a:ea typeface="Arial"/>
                <a:cs typeface="Arial"/>
                <a:sym typeface="Arial"/>
              </a:defRPr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1.Сайт -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https://www.info.analogovnet.ru/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endParaRPr lang="ru-RU" dirty="0"/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ru-RU" dirty="0"/>
          </a:p>
          <a:p>
            <a:pPr lvl="0"/>
            <a:endParaRPr lang="ru-RU" sz="1400" dirty="0"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929830-F659-4269-B097-A78CF947A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3" y="1768434"/>
            <a:ext cx="5439734" cy="221243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89448A-6750-4472-9020-5A9BA1FB9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332" y="724473"/>
            <a:ext cx="5439735" cy="23173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D5632E-7CD4-40F9-B810-90923FF5C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332" y="3123032"/>
            <a:ext cx="6318010" cy="266194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1CC5328-30EE-4335-9547-448AEB2A86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53" y="4073810"/>
            <a:ext cx="5126691" cy="204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477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18057</TotalTime>
  <Words>619</Words>
  <Application>Microsoft Office PowerPoint</Application>
  <PresentationFormat>Широкоэкранный</PresentationFormat>
  <Paragraphs>191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Игоревич Ясыченко</dc:creator>
  <cp:lastModifiedBy>IGOR</cp:lastModifiedBy>
  <cp:revision>504</cp:revision>
  <cp:lastPrinted>2023-03-29T07:00:08Z</cp:lastPrinted>
  <dcterms:created xsi:type="dcterms:W3CDTF">2018-11-01T13:13:19Z</dcterms:created>
  <dcterms:modified xsi:type="dcterms:W3CDTF">2026-01-26T08:37:51Z</dcterms:modified>
</cp:coreProperties>
</file>