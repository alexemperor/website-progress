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8"/>
  </p:notesMasterIdLst>
  <p:sldIdLst>
    <p:sldId id="256" r:id="rId2"/>
    <p:sldId id="343" r:id="rId3"/>
    <p:sldId id="357" r:id="rId4"/>
    <p:sldId id="358" r:id="rId5"/>
    <p:sldId id="360" r:id="rId6"/>
    <p:sldId id="351" r:id="rId7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Игорь Леонидович Корнеев" initials="ИЛК" lastIdx="0" clrIdx="0"/>
  <p:cmAuthor id="1" name="Home Admin" initials="H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2D72"/>
    <a:srgbClr val="E9EDF4"/>
    <a:srgbClr val="D0D8E8"/>
    <a:srgbClr val="EDF4FF"/>
    <a:srgbClr val="DAE9FF"/>
    <a:srgbClr val="E4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Темный стиль 1 -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5" autoAdjust="0"/>
    <p:restoredTop sz="95268" autoAdjust="0"/>
  </p:normalViewPr>
  <p:slideViewPr>
    <p:cSldViewPr snapToGrid="0" snapToObjects="1">
      <p:cViewPr varScale="1">
        <p:scale>
          <a:sx n="82" d="100"/>
          <a:sy n="82" d="100"/>
        </p:scale>
        <p:origin x="85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6383D-D99F-2048-997B-308408BE5E3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2E20E-1C9D-C54A-9C52-DA204C181CD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66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52E20E-1C9D-C54A-9C52-DA204C181CD9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52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E6128-DFC7-4EFE-8213-2F33D215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89ABF7-8166-443D-B389-6E72C7026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BCBFEA-4026-4C8D-B2F1-5379068E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D2120-1269-4B29-81B5-140AED75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722F8-422F-402C-9DF4-998BAAD4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83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3FC7D-8253-4E2D-A3D9-6A1D9063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3F88D0-4DD8-437F-8AF2-DB5EA66B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E1CE3F-5592-4EEA-A894-62BC72A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E9548B-7A96-4965-A900-100CBF07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79996D-FC9F-4706-BA8A-51674989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24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35E5C-854D-48AF-981E-24D307D3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228627-9E89-41BB-B950-FB61D4FF2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9BEBA-6D96-43B9-AD3F-B19953BD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92565-409D-4DAC-890C-32FB06D2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2CAA2-9B9D-49B4-9991-0982F804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C6BEF-7370-4E27-A689-21051F61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C56FD-122D-4B56-A41B-2309F202F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14A9CA-AF36-4557-B3F9-A375143B2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44B931-9463-43F9-8EC6-3B10D13A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57DB6-B6DC-4CA2-9038-1E6FA978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BB6E6-E38C-4CD4-AD6B-30C9A57E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85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145AB-D094-4A3D-9A42-B1138D53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DB521F-A3D2-4D5F-9494-019027E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55894B-5686-4276-93AD-F2EE4E882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1D6548-328B-420E-919F-813F6E4D4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4736DA-EE65-4E54-BE9D-347A8C6F3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36E57F-CD2B-461D-9081-43D307E7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497B86-C0A0-4FF0-909B-14F7A045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7CFE86-D62C-4891-A0F0-85023480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55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0F3A2-D4D5-4E0E-9A89-BC1EB7FF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EE170D-63D3-4105-A7A2-780B2214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786092-A7F1-4429-92EC-FD95BE4A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02305C-23D4-4B41-9D84-1D159BE6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40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AFC61F-CC3D-4440-8710-D087BDD4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93F6F5-970B-44E3-B8F4-8E526FA9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CC9DC4-6C27-4CF5-8973-056FA9F3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61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1E069-9BBF-45D1-834B-B47F630A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3EA5CA-8E99-47EB-91E4-9A806F266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2DCC5E-9E24-4332-9FCD-48388273E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7F6EC4-FE75-4013-B5FD-8EBCE71F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204082-FF88-4748-81AA-B9558CC2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691C8-7687-4241-95A8-F1C569E7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57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C646C-B166-44DD-B1CE-65347B2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8ACEEA-7616-468D-8E01-C4F6678E0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99EA21-E1E4-481A-9E87-3D0E3410A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DAF59D-E667-4CDE-B2E9-898E9D38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954F32-7090-4035-A1B2-CA17BEE5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0B7B90-9629-4FF7-B628-D4AFBDF4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12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4FAC8-595C-4CB8-85CD-2E93D92C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BD19F3-25BE-456D-A0B1-FE09B83B8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330A32-83F8-4BCE-BE64-A19E282D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E2E00F-67BE-404A-8B52-2070AB6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7E649-C9E7-4FD4-8E49-3012898E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28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CC8B80A-DE0B-4D90-8212-5A12E7A98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D384DF-627F-444F-9904-16B307C2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581F24-369E-4A46-B6BB-8AB74C7A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0BA5EB-251C-4D5C-BA23-8046A511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511BDE-5FC3-422D-B5B7-DBBE5A49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64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36139-D6C9-4B91-879C-026EB0A1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6C0A3-F09D-46FB-970B-324DC4A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417E16-C710-412B-A0FC-1A50EE95A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151F-D688-6141-A0B2-66F0774B3D4E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3A9B55-A2A7-4DEB-A2D5-7FE26F2F1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33419-2D5A-42DD-9AC5-9FFBAE1E9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98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8124" y="2259449"/>
            <a:ext cx="8873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>
                <a:solidFill>
                  <a:schemeClr val="bg1"/>
                </a:solidFill>
              </a:rPr>
              <a:t>Модуль</a:t>
            </a:r>
          </a:p>
          <a:p>
            <a:pPr algn="ctr"/>
            <a:r>
              <a:rPr lang="ru-RU" sz="2800" b="1" i="1" dirty="0">
                <a:solidFill>
                  <a:schemeClr val="bg1"/>
                </a:solidFill>
              </a:rPr>
              <a:t>МЭМС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8625" y="6251171"/>
            <a:ext cx="226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МОСКВА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1526" y="6251171"/>
            <a:ext cx="186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08.09.2025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F4661-521D-4D8A-BF2F-E979DFF5F59B}"/>
              </a:ext>
            </a:extLst>
          </p:cNvPr>
          <p:cNvSpPr txBox="1"/>
          <p:nvPr/>
        </p:nvSpPr>
        <p:spPr>
          <a:xfrm>
            <a:off x="3318124" y="3989401"/>
            <a:ext cx="8873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i="1" dirty="0">
                <a:solidFill>
                  <a:schemeClr val="bg1"/>
                </a:solidFill>
              </a:rPr>
              <a:t>Докладчик:</a:t>
            </a:r>
          </a:p>
          <a:p>
            <a:pPr algn="r"/>
            <a:r>
              <a:rPr lang="ru-RU" sz="2000" b="1" i="1" dirty="0">
                <a:solidFill>
                  <a:schemeClr val="bg1"/>
                </a:solidFill>
              </a:rPr>
              <a:t>Тарасов И.А. – Начальник отдела Беспроводной связи.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3C80C-8989-4950-A574-2E862BA10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1483604"/>
          </a:xfrm>
          <a:prstGeom prst="rect">
            <a:avLst/>
          </a:prstGeom>
        </p:spPr>
      </p:pic>
      <p:pic>
        <p:nvPicPr>
          <p:cNvPr id="9" name="Объект 34">
            <a:extLst>
              <a:ext uri="{FF2B5EF4-FFF2-40B4-BE49-F238E27FC236}">
                <a16:creationId xmlns:a16="http://schemas.microsoft.com/office/drawing/2014/main" id="{8351EA7B-886A-4FB5-9FB8-417A98374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5732">
            <a:off x="9976041" y="1961799"/>
            <a:ext cx="1767100" cy="10427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349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E73E6E1-EFA5-4B21-8990-362EEE536C5E}"/>
              </a:ext>
            </a:extLst>
          </p:cNvPr>
          <p:cNvSpPr txBox="1"/>
          <p:nvPr/>
        </p:nvSpPr>
        <p:spPr>
          <a:xfrm>
            <a:off x="554182" y="1002875"/>
            <a:ext cx="11245069" cy="4943559"/>
          </a:xfrm>
          <a:prstGeom prst="rect">
            <a:avLst/>
          </a:prstGeom>
          <a:solidFill>
            <a:srgbClr val="EDF4FF">
              <a:alpha val="60000"/>
            </a:srgbClr>
          </a:solidFill>
        </p:spPr>
        <p:txBody>
          <a:bodyPr wrap="square" lIns="180000" tIns="180000" rIns="180000" bIns="18000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Общие цели комплексного проекта: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МЭМС 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— </a:t>
            </a:r>
            <a:r>
              <a:rPr lang="ru-RU" dirty="0"/>
              <a:t> 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устройства, объединяющие в себе взаимосвязанные механические и электрические компоненты микрометрических размеров. Компактное и удобное в использовании устройство для получения навигационных данных и позиционирования в пространстве.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b="1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Цели модуля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Создание миниатюрного модуля для получения направления на устройстве. Получение данных по протоколу через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USB.</a:t>
            </a:r>
            <a:endParaRPr lang="ru-RU" sz="2000" spc="-1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b="1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Результат: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Получения готового изделия для внедрения в любую систему.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2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772234" y="1354718"/>
            <a:ext cx="10673863" cy="406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endParaRPr lang="ru-RU" sz="2000" spc="-1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8A13CDD-F302-4408-B406-A2211A343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" y="-17344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4105" y="102584"/>
            <a:ext cx="908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Цель и результаты выполнения  </a:t>
            </a:r>
            <a:r>
              <a:rPr lang="ru-RU" b="1" i="1" dirty="0">
                <a:solidFill>
                  <a:schemeClr val="bg1"/>
                </a:solidFill>
              </a:rPr>
              <a:t>Модуль «МЭМС»</a:t>
            </a:r>
          </a:p>
          <a:p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7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E73E6E1-EFA5-4B21-8990-362EEE536C5E}"/>
              </a:ext>
            </a:extLst>
          </p:cNvPr>
          <p:cNvSpPr txBox="1"/>
          <p:nvPr/>
        </p:nvSpPr>
        <p:spPr>
          <a:xfrm>
            <a:off x="-423637" y="669871"/>
            <a:ext cx="11546907" cy="5332228"/>
          </a:xfrm>
          <a:prstGeom prst="rect">
            <a:avLst/>
          </a:prstGeom>
          <a:solidFill>
            <a:srgbClr val="EDF4FF">
              <a:alpha val="60000"/>
            </a:srgbClr>
          </a:solidFill>
        </p:spPr>
        <p:txBody>
          <a:bodyPr wrap="square" lIns="180000" tIns="180000" rIns="180000" bIns="180000" rtlCol="0">
            <a:noAutofit/>
          </a:bodyPr>
          <a:lstStyle/>
          <a:p>
            <a:pPr algn="just"/>
            <a:endParaRPr lang="ru-RU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3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769970" y="707583"/>
            <a:ext cx="11154552" cy="4647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Описание: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ru-RU" dirty="0"/>
              <a:t>Модуль «МЭМС»</a:t>
            </a:r>
            <a:r>
              <a:rPr lang="en-US" dirty="0"/>
              <a:t> </a:t>
            </a:r>
            <a:r>
              <a:rPr lang="ru-RU" dirty="0"/>
              <a:t>имеет: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3‑осевой магнитометр (измеряет магнитное поле по осям X, Y, Z);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3‑осевой гироскоп (фиксирует угловую скорость);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3‑осевой акселерометр (определяет ускорение и ориентацию относительно гравитации).</a:t>
            </a:r>
          </a:p>
          <a:p>
            <a:endParaRPr lang="ru-RU" dirty="0"/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может быть использован: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Робототехника (навигация роботов).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Дроны и БПЛА (стабилизация курса).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Морская и наземная навигация (компасы для лодок, автомобилей).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Системы стабилизации камер и антенн.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IoT</a:t>
            </a:r>
            <a:r>
              <a:rPr lang="ru-RU" dirty="0"/>
              <a:t>‑устройства с геолокацией.</a:t>
            </a:r>
          </a:p>
          <a:p>
            <a:endParaRPr lang="ru-RU" dirty="0"/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lvl="0"/>
            <a:endParaRPr lang="ru-RU" sz="1400" dirty="0"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912D4D1-FC5A-4D77-B910-7201C9D81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78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" y="-16525"/>
            <a:ext cx="9085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Модуль «МЭМС»</a:t>
            </a:r>
          </a:p>
          <a:p>
            <a:r>
              <a:rPr lang="ru-RU" b="1" dirty="0">
                <a:solidFill>
                  <a:schemeClr val="bg1"/>
                </a:solidFill>
                <a:sym typeface="Arial"/>
              </a:rPr>
              <a:t>Позиционировании и навигация.</a:t>
            </a:r>
          </a:p>
          <a:p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2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4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839784" y="116512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sp>
        <p:nvSpPr>
          <p:cNvPr id="16" name="object 10"/>
          <p:cNvSpPr txBox="1"/>
          <p:nvPr/>
        </p:nvSpPr>
        <p:spPr>
          <a:xfrm>
            <a:off x="678353" y="1033458"/>
            <a:ext cx="10673863" cy="2751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Особые решения и преимущества: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Получения данных по уже готовому протоколу. (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М-003)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Готовое решение для Одноплатного компьютера.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к уже готовому изделию по кабелю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Отлаженное устройство готовое к работе.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Оптимальные размеры.</a:t>
            </a:r>
            <a:br>
              <a:rPr lang="ru-RU" sz="1500" dirty="0">
                <a:sym typeface="Arial"/>
              </a:rPr>
            </a:br>
            <a:endParaRPr lang="ru-RU" sz="1400" dirty="0"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A6E41A8-6FF3-4D85-BC39-11A2D6F63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2056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753" y="118307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Модуль «МЭМС»</a:t>
            </a:r>
          </a:p>
        </p:txBody>
      </p:sp>
    </p:spTree>
    <p:extLst>
      <p:ext uri="{BB962C8B-B14F-4D97-AF65-F5344CB8AC3E}">
        <p14:creationId xmlns:p14="http://schemas.microsoft.com/office/powerpoint/2010/main" val="293653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5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839784" y="116512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8D54C607-AC06-430E-84BE-23269FD9FBAC}"/>
              </a:ext>
            </a:extLst>
          </p:cNvPr>
          <p:cNvSpPr txBox="1"/>
          <p:nvPr/>
        </p:nvSpPr>
        <p:spPr>
          <a:xfrm>
            <a:off x="759066" y="440088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BE05C9F-118E-4231-870E-9EDF3728F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441965"/>
              </p:ext>
            </p:extLst>
          </p:nvPr>
        </p:nvGraphicFramePr>
        <p:xfrm>
          <a:off x="768153" y="1479323"/>
          <a:ext cx="10960494" cy="38320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399">
                  <a:extLst>
                    <a:ext uri="{9D8B030D-6E8A-4147-A177-3AD203B41FA5}">
                      <a16:colId xmlns:a16="http://schemas.microsoft.com/office/drawing/2014/main" val="4256125959"/>
                    </a:ext>
                  </a:extLst>
                </a:gridCol>
                <a:gridCol w="6291335">
                  <a:extLst>
                    <a:ext uri="{9D8B030D-6E8A-4147-A177-3AD203B41FA5}">
                      <a16:colId xmlns:a16="http://schemas.microsoft.com/office/drawing/2014/main" val="3896660791"/>
                    </a:ext>
                  </a:extLst>
                </a:gridCol>
                <a:gridCol w="3476760">
                  <a:extLst>
                    <a:ext uri="{9D8B030D-6E8A-4147-A177-3AD203B41FA5}">
                      <a16:colId xmlns:a16="http://schemas.microsoft.com/office/drawing/2014/main" val="2386202098"/>
                    </a:ext>
                  </a:extLst>
                </a:gridCol>
              </a:tblGrid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Пп. №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Наименование параметра, ед. изм.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Значение параметра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5843757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Питание, 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spc="-1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7863218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Выход </a:t>
                      </a:r>
                      <a:r>
                        <a:rPr lang="en-US" sz="1200" dirty="0">
                          <a:effectLst/>
                        </a:rPr>
                        <a:t>USB, </a:t>
                      </a:r>
                      <a:r>
                        <a:rPr lang="ru-RU" sz="1200" dirty="0">
                          <a:effectLst/>
                        </a:rPr>
                        <a:t>скорость передачи, бит/с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7061806"/>
                  </a:ext>
                </a:extLst>
              </a:tr>
              <a:tr h="5669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Размеры платы, мм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90/30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3856992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Разрешение, градус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0010740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Точность, градус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770918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Протокол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М-003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9310270"/>
                  </a:ext>
                </a:extLst>
              </a:tr>
              <a:tr h="46644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Потребление, мА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8976160"/>
                  </a:ext>
                </a:extLst>
              </a:tr>
            </a:tbl>
          </a:graphicData>
        </a:graphic>
      </p:graphicFrame>
      <p:sp>
        <p:nvSpPr>
          <p:cNvPr id="15" name="object 10">
            <a:extLst>
              <a:ext uri="{FF2B5EF4-FFF2-40B4-BE49-F238E27FC236}">
                <a16:creationId xmlns:a16="http://schemas.microsoft.com/office/drawing/2014/main" id="{4B08CE35-182C-4AFC-9979-CC48B9D9F669}"/>
              </a:ext>
            </a:extLst>
          </p:cNvPr>
          <p:cNvSpPr txBox="1"/>
          <p:nvPr/>
        </p:nvSpPr>
        <p:spPr>
          <a:xfrm>
            <a:off x="678354" y="883489"/>
            <a:ext cx="9389378" cy="112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ru-RU" b="1" dirty="0">
                <a:sym typeface="Arial"/>
              </a:rPr>
              <a:t>Параметры </a:t>
            </a:r>
            <a:r>
              <a:rPr lang="ru-RU" b="1" i="1" dirty="0"/>
              <a:t>Модуль «МЭМС»</a:t>
            </a:r>
            <a:br>
              <a:rPr lang="ru-RU" sz="1400" dirty="0">
                <a:sym typeface="Arial"/>
              </a:rPr>
            </a:br>
            <a:endParaRPr lang="ru-RU" sz="1200" dirty="0">
              <a:sym typeface="Arial"/>
            </a:endParaRP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500" dirty="0">
                <a:sym typeface="Arial"/>
              </a:rPr>
              <a:t>.</a:t>
            </a:r>
            <a:br>
              <a:rPr lang="ru-RU" sz="1500" dirty="0">
                <a:sym typeface="Arial"/>
              </a:rPr>
            </a:br>
            <a:endParaRPr lang="ru-RU" sz="1400" dirty="0">
              <a:sym typeface="Arial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626F32C1-A229-4351-86FD-F09820447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9936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6697" y="74838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Модуль «МЭМС»</a:t>
            </a:r>
          </a:p>
        </p:txBody>
      </p:sp>
    </p:spTree>
    <p:extLst>
      <p:ext uri="{BB962C8B-B14F-4D97-AF65-F5344CB8AC3E}">
        <p14:creationId xmlns:p14="http://schemas.microsoft.com/office/powerpoint/2010/main" val="407031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Объект 34">
            <a:extLst>
              <a:ext uri="{FF2B5EF4-FFF2-40B4-BE49-F238E27FC236}">
                <a16:creationId xmlns:a16="http://schemas.microsoft.com/office/drawing/2014/main" id="{74FC76F9-0C8E-4CB0-AA1D-5A76B120A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04754">
            <a:off x="272828" y="1577007"/>
            <a:ext cx="2364314" cy="1543384"/>
          </a:xfrm>
          <a:prstGeom prst="rect">
            <a:avLst/>
          </a:prstGeom>
        </p:spPr>
      </p:pic>
      <p:pic>
        <p:nvPicPr>
          <p:cNvPr id="38" name="Объект 34">
            <a:extLst>
              <a:ext uri="{FF2B5EF4-FFF2-40B4-BE49-F238E27FC236}">
                <a16:creationId xmlns:a16="http://schemas.microsoft.com/office/drawing/2014/main" id="{9EDDF485-5068-4429-ADA1-DCCFCAC8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5732">
            <a:off x="3356575" y="3387079"/>
            <a:ext cx="2570354" cy="19277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6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5687005-5282-44B9-8222-EC64F1BE2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31575"/>
            <a:ext cx="12191988" cy="6727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6" y="86142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Модуль «МЭМС».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47BB9-9C05-4EB1-B0D9-2F03F200E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20" y="641174"/>
            <a:ext cx="2922037" cy="719038"/>
          </a:xfrm>
        </p:spPr>
        <p:txBody>
          <a:bodyPr/>
          <a:lstStyle/>
          <a:p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Фото изделия.</a:t>
            </a:r>
          </a:p>
        </p:txBody>
      </p:sp>
      <p:pic>
        <p:nvPicPr>
          <p:cNvPr id="35" name="Объект 34">
            <a:extLst>
              <a:ext uri="{FF2B5EF4-FFF2-40B4-BE49-F238E27FC236}">
                <a16:creationId xmlns:a16="http://schemas.microsoft.com/office/drawing/2014/main" id="{8FD8CA67-C741-4DC7-A64B-7E7CB6E86E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 rot="21361357">
            <a:off x="285669" y="3324006"/>
            <a:ext cx="2733180" cy="2049885"/>
          </a:xfrm>
        </p:spPr>
      </p:pic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672FE99-2944-4708-B63C-294F6CC45F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41426490"/>
              </p:ext>
            </p:extLst>
          </p:nvPr>
        </p:nvGraphicFramePr>
        <p:xfrm>
          <a:off x="6040598" y="1019940"/>
          <a:ext cx="5955630" cy="51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741">
                  <a:extLst>
                    <a:ext uri="{9D8B030D-6E8A-4147-A177-3AD203B41FA5}">
                      <a16:colId xmlns:a16="http://schemas.microsoft.com/office/drawing/2014/main" val="4021514824"/>
                    </a:ext>
                  </a:extLst>
                </a:gridCol>
                <a:gridCol w="1856264">
                  <a:extLst>
                    <a:ext uri="{9D8B030D-6E8A-4147-A177-3AD203B41FA5}">
                      <a16:colId xmlns:a16="http://schemas.microsoft.com/office/drawing/2014/main" val="2192151854"/>
                    </a:ext>
                  </a:extLst>
                </a:gridCol>
                <a:gridCol w="1801625">
                  <a:extLst>
                    <a:ext uri="{9D8B030D-6E8A-4147-A177-3AD203B41FA5}">
                      <a16:colId xmlns:a16="http://schemas.microsoft.com/office/drawing/2014/main" val="3145653478"/>
                    </a:ext>
                  </a:extLst>
                </a:gridCol>
              </a:tblGrid>
              <a:tr h="803365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 этапа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Текущее планирование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Текущее состояние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945299"/>
                  </a:ext>
                </a:extLst>
              </a:tr>
              <a:tr h="796112">
                <a:tc>
                  <a:txBody>
                    <a:bodyPr/>
                    <a:lstStyle/>
                    <a:p>
                      <a:r>
                        <a:rPr lang="ru-RU" dirty="0"/>
                        <a:t>Разработка концепции изделия.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Июнь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Завершено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99594"/>
                  </a:ext>
                </a:extLst>
              </a:tr>
              <a:tr h="1188612">
                <a:tc>
                  <a:txBody>
                    <a:bodyPr/>
                    <a:lstStyle/>
                    <a:p>
                      <a:r>
                        <a:rPr lang="ru-RU" dirty="0"/>
                        <a:t>Разводка и проектирование корпуса. </a:t>
                      </a:r>
                      <a:r>
                        <a:rPr lang="ru-RU"/>
                        <a:t>Макетирование.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Июль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Завершено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719118"/>
                  </a:ext>
                </a:extLst>
              </a:tr>
              <a:tr h="914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Закупка. Программное ПО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Апрель-Май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Выполнено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39323"/>
                  </a:ext>
                </a:extLst>
              </a:tr>
              <a:tr h="1462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Проведения проверки в полевых условиях.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Сдача с комплектом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Сентябрь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Выполнено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65947"/>
                  </a:ext>
                </a:extLst>
              </a:tr>
            </a:tbl>
          </a:graphicData>
        </a:graphic>
      </p:graphicFrame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3923400-93BC-4403-AE6E-B5DA15D6AD3F}"/>
              </a:ext>
            </a:extLst>
          </p:cNvPr>
          <p:cNvSpPr txBox="1">
            <a:spLocks/>
          </p:cNvSpPr>
          <p:nvPr/>
        </p:nvSpPr>
        <p:spPr>
          <a:xfrm>
            <a:off x="6165025" y="538216"/>
            <a:ext cx="2922037" cy="719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План производства.</a:t>
            </a:r>
          </a:p>
        </p:txBody>
      </p:sp>
      <p:pic>
        <p:nvPicPr>
          <p:cNvPr id="17" name="Объект 34">
            <a:extLst>
              <a:ext uri="{FF2B5EF4-FFF2-40B4-BE49-F238E27FC236}">
                <a16:creationId xmlns:a16="http://schemas.microsoft.com/office/drawing/2014/main" id="{83540BFC-503E-45F1-8354-057FE3CDB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1357">
            <a:off x="3095282" y="838419"/>
            <a:ext cx="2364314" cy="20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96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18178</TotalTime>
  <Words>214</Words>
  <Application>Microsoft Office PowerPoint</Application>
  <PresentationFormat>Широкоэкранный</PresentationFormat>
  <Paragraphs>89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Bahnschrift Light Condensed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Фото изделия.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Игоревич Ясыченко</dc:creator>
  <cp:lastModifiedBy>IGOR</cp:lastModifiedBy>
  <cp:revision>520</cp:revision>
  <cp:lastPrinted>2023-03-29T07:00:08Z</cp:lastPrinted>
  <dcterms:created xsi:type="dcterms:W3CDTF">2018-11-01T13:13:19Z</dcterms:created>
  <dcterms:modified xsi:type="dcterms:W3CDTF">2026-04-20T11:28:56Z</dcterms:modified>
</cp:coreProperties>
</file>